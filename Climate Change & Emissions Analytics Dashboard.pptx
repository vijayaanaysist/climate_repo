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4/28/2026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4/28/2026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8461D-FA2F-962B-6B99-B4DD902504E9}"/>
              </a:ext>
            </a:extLst>
          </p:cNvPr>
          <p:cNvSpPr>
            <a:spLocks noGrp="1"/>
          </p:cNvSpPr>
          <p:nvPr>
            <p:ph type="ctrTitle"/>
          </p:nvPr>
        </p:nvSpPr>
        <p:spPr/>
        <p:txBody>
          <a:bodyPr>
            <a:normAutofit fontScale="90000"/>
          </a:bodyPr>
          <a:lstStyle/>
          <a:p>
            <a:r>
              <a:rPr lang="en-US" b="1" dirty="0"/>
              <a:t>Climate Change &amp; Emissions Analytics Dashboard</a:t>
            </a:r>
            <a:br>
              <a:rPr lang="en-US" b="1" dirty="0"/>
            </a:br>
            <a:r>
              <a:rPr lang="en-US" b="1" i="1" dirty="0"/>
              <a:t>(SDG Goal 13: Climate Action)</a:t>
            </a:r>
            <a:br>
              <a:rPr lang="en-US" b="1" dirty="0"/>
            </a:br>
            <a:endParaRPr lang="en-IN" dirty="0"/>
          </a:p>
        </p:txBody>
      </p:sp>
    </p:spTree>
    <p:extLst>
      <p:ext uri="{BB962C8B-B14F-4D97-AF65-F5344CB8AC3E}">
        <p14:creationId xmlns:p14="http://schemas.microsoft.com/office/powerpoint/2010/main" val="2650081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60EF8-EBBC-43A0-21EB-5F36CEDB4EDB}"/>
              </a:ext>
            </a:extLst>
          </p:cNvPr>
          <p:cNvSpPr>
            <a:spLocks noGrp="1"/>
          </p:cNvSpPr>
          <p:nvPr>
            <p:ph type="title"/>
          </p:nvPr>
        </p:nvSpPr>
        <p:spPr/>
        <p:txBody>
          <a:bodyPr/>
          <a:lstStyle/>
          <a:p>
            <a:r>
              <a:rPr lang="en-US" b="1" dirty="0"/>
              <a:t>Abstract</a:t>
            </a:r>
            <a:br>
              <a:rPr lang="en-US" b="1" dirty="0"/>
            </a:br>
            <a:endParaRPr lang="en-IN" dirty="0"/>
          </a:p>
        </p:txBody>
      </p:sp>
      <p:sp>
        <p:nvSpPr>
          <p:cNvPr id="3" name="Content Placeholder 2">
            <a:extLst>
              <a:ext uri="{FF2B5EF4-FFF2-40B4-BE49-F238E27FC236}">
                <a16:creationId xmlns:a16="http://schemas.microsoft.com/office/drawing/2014/main" id="{BC4DBE4A-04C9-068B-C06B-8471DE34DCE8}"/>
              </a:ext>
            </a:extLst>
          </p:cNvPr>
          <p:cNvSpPr>
            <a:spLocks noGrp="1"/>
          </p:cNvSpPr>
          <p:nvPr>
            <p:ph sz="quarter" idx="13"/>
          </p:nvPr>
        </p:nvSpPr>
        <p:spPr>
          <a:xfrm>
            <a:off x="913774" y="2367092"/>
            <a:ext cx="6686561" cy="3371847"/>
          </a:xfrm>
        </p:spPr>
        <p:txBody>
          <a:bodyPr>
            <a:normAutofit/>
          </a:bodyPr>
          <a:lstStyle/>
          <a:p>
            <a:r>
              <a:rPr lang="en-US" dirty="0"/>
              <a:t>Climate change is a global challenge caused by rising greenhouse gas emissions and increasing temperatures. This project develops an interactive analytics dashboard to monitor climate indicators,  analyze emissions trends, and predict climate risk levels using machine learning techniques. The solution helps stakeholders make data-driven environmental decisions.</a:t>
            </a:r>
          </a:p>
          <a:p>
            <a:endParaRPr lang="en-IN" dirty="0"/>
          </a:p>
        </p:txBody>
      </p:sp>
      <p:pic>
        <p:nvPicPr>
          <p:cNvPr id="1026" name="Picture 2">
            <a:extLst>
              <a:ext uri="{FF2B5EF4-FFF2-40B4-BE49-F238E27FC236}">
                <a16:creationId xmlns:a16="http://schemas.microsoft.com/office/drawing/2014/main" id="{195BB585-59DF-BF4C-AE4F-D4C7155917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0362" y="2054942"/>
            <a:ext cx="3783962" cy="4606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142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E9BA3-3D9B-CE3F-D7F0-26A0A6F930D3}"/>
              </a:ext>
            </a:extLst>
          </p:cNvPr>
          <p:cNvSpPr>
            <a:spLocks noGrp="1"/>
          </p:cNvSpPr>
          <p:nvPr>
            <p:ph type="title"/>
          </p:nvPr>
        </p:nvSpPr>
        <p:spPr/>
        <p:txBody>
          <a:bodyPr/>
          <a:lstStyle/>
          <a:p>
            <a:r>
              <a:rPr lang="en-US" b="1" dirty="0"/>
              <a:t>Introduction</a:t>
            </a:r>
            <a:br>
              <a:rPr lang="en-US" b="1" dirty="0"/>
            </a:br>
            <a:endParaRPr lang="en-IN" dirty="0"/>
          </a:p>
        </p:txBody>
      </p:sp>
      <p:sp>
        <p:nvSpPr>
          <p:cNvPr id="3" name="Content Placeholder 2">
            <a:extLst>
              <a:ext uri="{FF2B5EF4-FFF2-40B4-BE49-F238E27FC236}">
                <a16:creationId xmlns:a16="http://schemas.microsoft.com/office/drawing/2014/main" id="{F3E72337-0263-2CCC-8947-47149521DBDE}"/>
              </a:ext>
            </a:extLst>
          </p:cNvPr>
          <p:cNvSpPr>
            <a:spLocks noGrp="1"/>
          </p:cNvSpPr>
          <p:nvPr>
            <p:ph sz="quarter" idx="13"/>
          </p:nvPr>
        </p:nvSpPr>
        <p:spPr/>
        <p:txBody>
          <a:bodyPr>
            <a:normAutofit/>
          </a:bodyPr>
          <a:lstStyle/>
          <a:p>
            <a:r>
              <a:rPr lang="en-US" dirty="0"/>
              <a:t>Climate change poses one of the greatest challenges of our time, with rising global temperatures, increasing greenhouse gas emissions, and extreme weather events threatening ecosystems and human societies. This project aims to design and implement a </a:t>
            </a:r>
            <a:r>
              <a:rPr lang="en-US" b="1" dirty="0"/>
              <a:t>Climate Analytics Dashboard</a:t>
            </a:r>
            <a:r>
              <a:rPr lang="en-US" dirty="0"/>
              <a:t> that consolidates climate-related data, applies machine learning (ML) for predictive insights, and supports evidence-based policy decisions.</a:t>
            </a:r>
          </a:p>
          <a:p>
            <a:endParaRPr lang="en-IN" dirty="0"/>
          </a:p>
        </p:txBody>
      </p:sp>
    </p:spTree>
    <p:extLst>
      <p:ext uri="{BB962C8B-B14F-4D97-AF65-F5344CB8AC3E}">
        <p14:creationId xmlns:p14="http://schemas.microsoft.com/office/powerpoint/2010/main" val="2076251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BA44B-41BF-D562-6D2C-A98087F6B442}"/>
              </a:ext>
            </a:extLst>
          </p:cNvPr>
          <p:cNvSpPr>
            <a:spLocks noGrp="1"/>
          </p:cNvSpPr>
          <p:nvPr>
            <p:ph type="title"/>
          </p:nvPr>
        </p:nvSpPr>
        <p:spPr/>
        <p:txBody>
          <a:bodyPr/>
          <a:lstStyle/>
          <a:p>
            <a:r>
              <a:rPr lang="en-US" b="1" dirty="0"/>
              <a:t>Problem Statement</a:t>
            </a:r>
            <a:br>
              <a:rPr lang="en-US" b="1" dirty="0"/>
            </a:br>
            <a:endParaRPr lang="en-IN" dirty="0"/>
          </a:p>
        </p:txBody>
      </p:sp>
      <p:sp>
        <p:nvSpPr>
          <p:cNvPr id="3" name="Content Placeholder 2">
            <a:extLst>
              <a:ext uri="{FF2B5EF4-FFF2-40B4-BE49-F238E27FC236}">
                <a16:creationId xmlns:a16="http://schemas.microsoft.com/office/drawing/2014/main" id="{41C5C2D7-9EE3-E166-61AF-E3811D5E12D9}"/>
              </a:ext>
            </a:extLst>
          </p:cNvPr>
          <p:cNvSpPr>
            <a:spLocks noGrp="1"/>
          </p:cNvSpPr>
          <p:nvPr>
            <p:ph sz="quarter" idx="13"/>
          </p:nvPr>
        </p:nvSpPr>
        <p:spPr>
          <a:xfrm>
            <a:off x="393290" y="1986116"/>
            <a:ext cx="10884310" cy="4640826"/>
          </a:xfrm>
        </p:spPr>
        <p:txBody>
          <a:bodyPr>
            <a:normAutofit/>
          </a:bodyPr>
          <a:lstStyle/>
          <a:p>
            <a:r>
              <a:rPr lang="en-US" dirty="0"/>
              <a:t>Current climate data is fragmented,</a:t>
            </a:r>
          </a:p>
          <a:p>
            <a:pPr marL="0" indent="0">
              <a:buNone/>
            </a:pPr>
            <a:r>
              <a:rPr lang="en-US" dirty="0"/>
              <a:t> underutilized, and lacks predictive modeling.</a:t>
            </a:r>
          </a:p>
          <a:p>
            <a:pPr marL="0" indent="0">
              <a:buNone/>
            </a:pPr>
            <a:r>
              <a:rPr lang="en-US" dirty="0"/>
              <a:t> This results in:</a:t>
            </a:r>
          </a:p>
          <a:p>
            <a:r>
              <a:rPr lang="en-US" dirty="0"/>
              <a:t>Poor climate policy decisions</a:t>
            </a:r>
          </a:p>
          <a:p>
            <a:r>
              <a:rPr lang="en-US" dirty="0"/>
              <a:t>Increased environmental damage</a:t>
            </a:r>
          </a:p>
          <a:p>
            <a:r>
              <a:rPr lang="en-US" dirty="0"/>
              <a:t>Absence of early warning systems</a:t>
            </a:r>
          </a:p>
          <a:p>
            <a:r>
              <a:rPr lang="en-US" dirty="0"/>
              <a:t>A centralized, interactive dashboard with</a:t>
            </a:r>
          </a:p>
          <a:p>
            <a:pPr marL="0" indent="0">
              <a:buNone/>
            </a:pPr>
            <a:r>
              <a:rPr lang="en-US" dirty="0"/>
              <a:t> ML-driven insights is required to address these gaps.</a:t>
            </a:r>
          </a:p>
          <a:p>
            <a:endParaRPr lang="en-IN" dirty="0"/>
          </a:p>
        </p:txBody>
      </p:sp>
      <p:pic>
        <p:nvPicPr>
          <p:cNvPr id="2050" name="Picture 2">
            <a:extLst>
              <a:ext uri="{FF2B5EF4-FFF2-40B4-BE49-F238E27FC236}">
                <a16:creationId xmlns:a16="http://schemas.microsoft.com/office/drawing/2014/main" id="{AF24CEE8-96C4-A4C1-70CA-5B05838EEC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7734" y="2469420"/>
            <a:ext cx="5651922" cy="3219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7875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55D4D-62E2-3435-84DF-94C808100C9D}"/>
              </a:ext>
            </a:extLst>
          </p:cNvPr>
          <p:cNvSpPr>
            <a:spLocks noGrp="1"/>
          </p:cNvSpPr>
          <p:nvPr>
            <p:ph type="title"/>
          </p:nvPr>
        </p:nvSpPr>
        <p:spPr/>
        <p:txBody>
          <a:bodyPr/>
          <a:lstStyle/>
          <a:p>
            <a:r>
              <a:rPr lang="en-US" b="1" dirty="0"/>
              <a:t>Objectives</a:t>
            </a:r>
            <a:br>
              <a:rPr lang="en-US" b="1" dirty="0"/>
            </a:br>
            <a:endParaRPr lang="en-IN" dirty="0"/>
          </a:p>
        </p:txBody>
      </p:sp>
      <p:pic>
        <p:nvPicPr>
          <p:cNvPr id="3074" name="Picture 2">
            <a:extLst>
              <a:ext uri="{FF2B5EF4-FFF2-40B4-BE49-F238E27FC236}">
                <a16:creationId xmlns:a16="http://schemas.microsoft.com/office/drawing/2014/main" id="{DE6F297B-95D0-D02A-84BA-11D5412960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6525" y="2386756"/>
            <a:ext cx="5564597" cy="344201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F6B5128D-BEE1-2B53-1165-FD0B2D510E34}"/>
              </a:ext>
            </a:extLst>
          </p:cNvPr>
          <p:cNvSpPr>
            <a:spLocks noChangeArrowheads="1"/>
          </p:cNvSpPr>
          <p:nvPr/>
        </p:nvSpPr>
        <p:spPr bwMode="auto">
          <a:xfrm>
            <a:off x="157316" y="2386756"/>
            <a:ext cx="726603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Monitor climate change indicators (emissions,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temperature, energy usage).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Identify high-risk regions using clustering and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classification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Predict future climate risks through ML.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Provide actionable insights for policymakers and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environmental agencies.</a:t>
            </a:r>
          </a:p>
        </p:txBody>
      </p:sp>
    </p:spTree>
    <p:extLst>
      <p:ext uri="{BB962C8B-B14F-4D97-AF65-F5344CB8AC3E}">
        <p14:creationId xmlns:p14="http://schemas.microsoft.com/office/powerpoint/2010/main" val="4246629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3ED27-EE9C-A56B-EB65-E66B006CE73C}"/>
              </a:ext>
            </a:extLst>
          </p:cNvPr>
          <p:cNvSpPr>
            <a:spLocks noGrp="1"/>
          </p:cNvSpPr>
          <p:nvPr>
            <p:ph type="title"/>
          </p:nvPr>
        </p:nvSpPr>
        <p:spPr/>
        <p:txBody>
          <a:bodyPr/>
          <a:lstStyle/>
          <a:p>
            <a:r>
              <a:rPr lang="en-US" b="1" dirty="0"/>
              <a:t>Scope</a:t>
            </a:r>
            <a:br>
              <a:rPr lang="en-US" b="1" dirty="0"/>
            </a:br>
            <a:endParaRPr lang="en-IN" dirty="0"/>
          </a:p>
        </p:txBody>
      </p:sp>
      <p:sp>
        <p:nvSpPr>
          <p:cNvPr id="7" name="TextBox 6">
            <a:extLst>
              <a:ext uri="{FF2B5EF4-FFF2-40B4-BE49-F238E27FC236}">
                <a16:creationId xmlns:a16="http://schemas.microsoft.com/office/drawing/2014/main" id="{3D79C2FC-FEFF-5546-8A1A-9C17DAD00E45}"/>
              </a:ext>
            </a:extLst>
          </p:cNvPr>
          <p:cNvSpPr txBox="1"/>
          <p:nvPr/>
        </p:nvSpPr>
        <p:spPr>
          <a:xfrm>
            <a:off x="737420" y="2285432"/>
            <a:ext cx="7167716" cy="2862322"/>
          </a:xfrm>
          <a:prstGeom prst="rect">
            <a:avLst/>
          </a:prstGeom>
          <a:noFill/>
        </p:spPr>
        <p:txBody>
          <a:bodyPr wrap="square">
            <a:spAutoFit/>
          </a:bodyPr>
          <a:lstStyle/>
          <a:p>
            <a:pPr>
              <a:buNone/>
            </a:pPr>
            <a:r>
              <a:rPr lang="en-IN" b="1" dirty="0"/>
              <a:t>Scope</a:t>
            </a:r>
          </a:p>
          <a:p>
            <a:pPr>
              <a:buNone/>
            </a:pPr>
            <a:r>
              <a:rPr lang="en-IN" b="1" dirty="0">
                <a:effectLst/>
              </a:rPr>
              <a:t>In Scope:</a:t>
            </a:r>
            <a:endParaRPr lang="en-IN" dirty="0"/>
          </a:p>
          <a:p>
            <a:pPr>
              <a:buFont typeface="Arial" panose="020B0604020202020204" pitchFamily="34" charset="0"/>
              <a:buChar char="•"/>
            </a:pPr>
            <a:r>
              <a:rPr lang="en-IN" dirty="0">
                <a:effectLst/>
              </a:rPr>
              <a:t>Data preprocessing and cleaning</a:t>
            </a:r>
            <a:endParaRPr lang="en-IN" dirty="0"/>
          </a:p>
          <a:p>
            <a:pPr>
              <a:buFont typeface="Arial" panose="020B0604020202020204" pitchFamily="34" charset="0"/>
              <a:buChar char="•"/>
            </a:pPr>
            <a:r>
              <a:rPr lang="en-IN" dirty="0">
                <a:effectLst/>
              </a:rPr>
              <a:t>KPI calculation</a:t>
            </a:r>
            <a:endParaRPr lang="en-IN" dirty="0"/>
          </a:p>
          <a:p>
            <a:pPr>
              <a:buFont typeface="Arial" panose="020B0604020202020204" pitchFamily="34" charset="0"/>
              <a:buChar char="•"/>
            </a:pPr>
            <a:r>
              <a:rPr lang="en-IN" dirty="0">
                <a:effectLst/>
              </a:rPr>
              <a:t>Dashboard creation (Power BI / Tableau)</a:t>
            </a:r>
            <a:endParaRPr lang="en-IN" dirty="0"/>
          </a:p>
          <a:p>
            <a:pPr>
              <a:buFont typeface="Arial" panose="020B0604020202020204" pitchFamily="34" charset="0"/>
              <a:buChar char="•"/>
            </a:pPr>
            <a:r>
              <a:rPr lang="en-IN" dirty="0">
                <a:effectLst/>
              </a:rPr>
              <a:t>ML model implementation (classification, regression, clustering)</a:t>
            </a:r>
            <a:endParaRPr lang="en-IN" dirty="0"/>
          </a:p>
          <a:p>
            <a:pPr>
              <a:buFont typeface="Arial" panose="020B0604020202020204" pitchFamily="34" charset="0"/>
              <a:buChar char="•"/>
            </a:pPr>
            <a:r>
              <a:rPr lang="en-IN" dirty="0">
                <a:effectLst/>
              </a:rPr>
              <a:t>Insights generation</a:t>
            </a:r>
            <a:endParaRPr lang="en-IN" dirty="0"/>
          </a:p>
          <a:p>
            <a:pPr>
              <a:buNone/>
            </a:pPr>
            <a:r>
              <a:rPr lang="en-IN" b="1" dirty="0">
                <a:effectLst/>
              </a:rPr>
              <a:t>Out of Scope:</a:t>
            </a:r>
            <a:endParaRPr lang="en-IN" dirty="0"/>
          </a:p>
          <a:p>
            <a:pPr>
              <a:buFont typeface="Arial" panose="020B0604020202020204" pitchFamily="34" charset="0"/>
              <a:buChar char="•"/>
            </a:pPr>
            <a:r>
              <a:rPr lang="en-IN" dirty="0">
                <a:effectLst/>
              </a:rPr>
              <a:t>Real-time climate control systems</a:t>
            </a:r>
            <a:endParaRPr lang="en-IN" dirty="0"/>
          </a:p>
          <a:p>
            <a:pPr>
              <a:buFont typeface="Arial" panose="020B0604020202020204" pitchFamily="34" charset="0"/>
              <a:buChar char="•"/>
            </a:pPr>
            <a:r>
              <a:rPr lang="en-IN" dirty="0">
                <a:effectLst/>
              </a:rPr>
              <a:t>Direct enforcement of environmental policies</a:t>
            </a:r>
            <a:endParaRPr lang="en-IN" dirty="0"/>
          </a:p>
        </p:txBody>
      </p:sp>
    </p:spTree>
    <p:extLst>
      <p:ext uri="{BB962C8B-B14F-4D97-AF65-F5344CB8AC3E}">
        <p14:creationId xmlns:p14="http://schemas.microsoft.com/office/powerpoint/2010/main" val="3170319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A682A-041C-C106-088E-0BCFDAD0739A}"/>
              </a:ext>
            </a:extLst>
          </p:cNvPr>
          <p:cNvSpPr>
            <a:spLocks noGrp="1"/>
          </p:cNvSpPr>
          <p:nvPr>
            <p:ph type="title"/>
          </p:nvPr>
        </p:nvSpPr>
        <p:spPr/>
        <p:txBody>
          <a:bodyPr/>
          <a:lstStyle/>
          <a:p>
            <a:r>
              <a:rPr lang="en-US" b="1" dirty="0"/>
              <a:t>Stakeholders</a:t>
            </a:r>
            <a:br>
              <a:rPr lang="en-US" b="1" dirty="0"/>
            </a:br>
            <a:endParaRPr lang="en-IN" dirty="0"/>
          </a:p>
        </p:txBody>
      </p:sp>
      <p:sp>
        <p:nvSpPr>
          <p:cNvPr id="3" name="Content Placeholder 2">
            <a:extLst>
              <a:ext uri="{FF2B5EF4-FFF2-40B4-BE49-F238E27FC236}">
                <a16:creationId xmlns:a16="http://schemas.microsoft.com/office/drawing/2014/main" id="{53AA8F5B-ED8C-AFC4-9C85-701F2C549344}"/>
              </a:ext>
            </a:extLst>
          </p:cNvPr>
          <p:cNvSpPr>
            <a:spLocks noGrp="1"/>
          </p:cNvSpPr>
          <p:nvPr>
            <p:ph sz="quarter" idx="13"/>
          </p:nvPr>
        </p:nvSpPr>
        <p:spPr/>
        <p:txBody>
          <a:bodyPr/>
          <a:lstStyle/>
          <a:p>
            <a:r>
              <a:rPr lang="en-US" dirty="0"/>
              <a:t>Environmental Agencies</a:t>
            </a:r>
          </a:p>
          <a:p>
            <a:r>
              <a:rPr lang="en-US" dirty="0"/>
              <a:t>Government Bodies</a:t>
            </a:r>
          </a:p>
          <a:p>
            <a:r>
              <a:rPr lang="en-US" dirty="0"/>
              <a:t>Climate Researchers</a:t>
            </a:r>
          </a:p>
          <a:p>
            <a:r>
              <a:rPr lang="en-US" dirty="0"/>
              <a:t>Policy Makers</a:t>
            </a:r>
          </a:p>
          <a:p>
            <a:endParaRPr lang="en-IN" dirty="0"/>
          </a:p>
        </p:txBody>
      </p:sp>
      <p:pic>
        <p:nvPicPr>
          <p:cNvPr id="4098" name="Picture 2" descr="Who are the key climate change stakeholders?">
            <a:extLst>
              <a:ext uri="{FF2B5EF4-FFF2-40B4-BE49-F238E27FC236}">
                <a16:creationId xmlns:a16="http://schemas.microsoft.com/office/drawing/2014/main" id="{2F4F8A58-1C19-36FD-733E-6B42ECFDA9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3975" y="2367092"/>
            <a:ext cx="6654902" cy="3501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66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75AB4-09CE-F9A9-58AB-2FBFE3E8BDB4}"/>
              </a:ext>
            </a:extLst>
          </p:cNvPr>
          <p:cNvSpPr>
            <a:spLocks noGrp="1"/>
          </p:cNvSpPr>
          <p:nvPr>
            <p:ph type="title"/>
          </p:nvPr>
        </p:nvSpPr>
        <p:spPr/>
        <p:txBody>
          <a:bodyPr/>
          <a:lstStyle/>
          <a:p>
            <a:r>
              <a:rPr lang="en-IN" b="1" dirty="0"/>
              <a:t>Data Requirements</a:t>
            </a:r>
            <a:br>
              <a:rPr lang="en-IN" b="1" dirty="0"/>
            </a:br>
            <a:endParaRPr lang="en-IN" dirty="0"/>
          </a:p>
        </p:txBody>
      </p:sp>
      <p:sp>
        <p:nvSpPr>
          <p:cNvPr id="3" name="Content Placeholder 2">
            <a:extLst>
              <a:ext uri="{FF2B5EF4-FFF2-40B4-BE49-F238E27FC236}">
                <a16:creationId xmlns:a16="http://schemas.microsoft.com/office/drawing/2014/main" id="{87ADDF70-B4CA-A299-68E9-1745227B0167}"/>
              </a:ext>
            </a:extLst>
          </p:cNvPr>
          <p:cNvSpPr>
            <a:spLocks noGrp="1"/>
          </p:cNvSpPr>
          <p:nvPr>
            <p:ph sz="quarter" idx="13"/>
          </p:nvPr>
        </p:nvSpPr>
        <p:spPr/>
        <p:txBody>
          <a:bodyPr/>
          <a:lstStyle/>
          <a:p>
            <a:r>
              <a:rPr lang="en-IN" b="1" dirty="0"/>
              <a:t>Emissions Data:</a:t>
            </a:r>
            <a:r>
              <a:rPr lang="en-IN" dirty="0"/>
              <a:t> CO₂ emissions, greenhouse gas levels </a:t>
            </a:r>
            <a:r>
              <a:rPr lang="en-IN" b="1" dirty="0"/>
              <a:t>Environmental Data:</a:t>
            </a:r>
            <a:r>
              <a:rPr lang="en-IN" dirty="0"/>
              <a:t> Temperature changes, sea level rise </a:t>
            </a:r>
            <a:r>
              <a:rPr lang="en-IN" b="1" dirty="0"/>
              <a:t>Energy Data:</a:t>
            </a:r>
            <a:r>
              <a:rPr lang="en-IN" dirty="0"/>
              <a:t> Fossil fuel usage, renewable energy adoption </a:t>
            </a:r>
            <a:r>
              <a:rPr lang="en-IN" b="1" dirty="0"/>
              <a:t>Geographic Data:</a:t>
            </a:r>
            <a:r>
              <a:rPr lang="en-IN" dirty="0"/>
              <a:t> Region, population </a:t>
            </a:r>
            <a:r>
              <a:rPr lang="en-IN" b="1" dirty="0"/>
              <a:t>Target Variable:</a:t>
            </a:r>
            <a:r>
              <a:rPr lang="en-IN" dirty="0"/>
              <a:t> Climate Risk Level (High / Medium / Low)</a:t>
            </a:r>
          </a:p>
          <a:p>
            <a:endParaRPr lang="en-IN" dirty="0"/>
          </a:p>
        </p:txBody>
      </p:sp>
      <p:pic>
        <p:nvPicPr>
          <p:cNvPr id="5122" name="Picture 2">
            <a:extLst>
              <a:ext uri="{FF2B5EF4-FFF2-40B4-BE49-F238E27FC236}">
                <a16:creationId xmlns:a16="http://schemas.microsoft.com/office/drawing/2014/main" id="{0990DF06-ECF3-DBD2-A787-4152B805DD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5729" y="3633634"/>
            <a:ext cx="5583630" cy="31407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213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4F58C-A970-9C71-3F9C-178987EAB314}"/>
              </a:ext>
            </a:extLst>
          </p:cNvPr>
          <p:cNvSpPr>
            <a:spLocks noGrp="1"/>
          </p:cNvSpPr>
          <p:nvPr>
            <p:ph type="title"/>
          </p:nvPr>
        </p:nvSpPr>
        <p:spPr/>
        <p:txBody>
          <a:bodyPr/>
          <a:lstStyle/>
          <a:p>
            <a:r>
              <a:rPr lang="en-IN" b="1" dirty="0"/>
              <a:t>Key Metrics (KPIs)</a:t>
            </a:r>
            <a:br>
              <a:rPr lang="en-IN" b="1" dirty="0"/>
            </a:br>
            <a:endParaRPr lang="en-IN" dirty="0"/>
          </a:p>
        </p:txBody>
      </p:sp>
      <p:sp>
        <p:nvSpPr>
          <p:cNvPr id="3" name="Content Placeholder 2">
            <a:extLst>
              <a:ext uri="{FF2B5EF4-FFF2-40B4-BE49-F238E27FC236}">
                <a16:creationId xmlns:a16="http://schemas.microsoft.com/office/drawing/2014/main" id="{E2EA6320-6CDC-089A-93E4-894C3B19FA49}"/>
              </a:ext>
            </a:extLst>
          </p:cNvPr>
          <p:cNvSpPr>
            <a:spLocks noGrp="1"/>
          </p:cNvSpPr>
          <p:nvPr>
            <p:ph sz="quarter" idx="13"/>
          </p:nvPr>
        </p:nvSpPr>
        <p:spPr/>
        <p:txBody>
          <a:bodyPr/>
          <a:lstStyle/>
          <a:p>
            <a:r>
              <a:rPr lang="en-IN" dirty="0"/>
              <a:t>CO₂ Emissions (tons)</a:t>
            </a:r>
          </a:p>
          <a:p>
            <a:r>
              <a:rPr lang="en-IN" dirty="0"/>
              <a:t>Temperature Increase Rate</a:t>
            </a:r>
          </a:p>
          <a:p>
            <a:r>
              <a:rPr lang="en-IN" dirty="0"/>
              <a:t>Carbon Footprint Index</a:t>
            </a:r>
          </a:p>
          <a:p>
            <a:r>
              <a:rPr lang="en-IN" dirty="0"/>
              <a:t>Renewable Energy Share (%)</a:t>
            </a:r>
          </a:p>
          <a:p>
            <a:r>
              <a:rPr lang="en-IN" dirty="0"/>
              <a:t>Climate Risk Score</a:t>
            </a:r>
          </a:p>
          <a:p>
            <a:r>
              <a:rPr lang="en-IN" dirty="0"/>
              <a:t>Region-wise Risk Ranking</a:t>
            </a:r>
          </a:p>
          <a:p>
            <a:endParaRPr lang="en-IN" dirty="0"/>
          </a:p>
        </p:txBody>
      </p:sp>
    </p:spTree>
    <p:extLst>
      <p:ext uri="{BB962C8B-B14F-4D97-AF65-F5344CB8AC3E}">
        <p14:creationId xmlns:p14="http://schemas.microsoft.com/office/powerpoint/2010/main" val="1927812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96421-3EFE-4529-94F6-C81DF2AA38CD}"/>
              </a:ext>
            </a:extLst>
          </p:cNvPr>
          <p:cNvSpPr>
            <a:spLocks noGrp="1"/>
          </p:cNvSpPr>
          <p:nvPr>
            <p:ph type="title"/>
          </p:nvPr>
        </p:nvSpPr>
        <p:spPr/>
        <p:txBody>
          <a:bodyPr/>
          <a:lstStyle/>
          <a:p>
            <a:r>
              <a:rPr lang="en-IN" b="1" dirty="0"/>
              <a:t>Analytical Approach</a:t>
            </a:r>
            <a:br>
              <a:rPr lang="en-IN" b="1" dirty="0"/>
            </a:br>
            <a:endParaRPr lang="en-IN" dirty="0"/>
          </a:p>
        </p:txBody>
      </p:sp>
      <p:sp>
        <p:nvSpPr>
          <p:cNvPr id="3" name="Content Placeholder 2">
            <a:extLst>
              <a:ext uri="{FF2B5EF4-FFF2-40B4-BE49-F238E27FC236}">
                <a16:creationId xmlns:a16="http://schemas.microsoft.com/office/drawing/2014/main" id="{EE9645D9-AD17-65F1-0D81-556C5DB6C3A6}"/>
              </a:ext>
            </a:extLst>
          </p:cNvPr>
          <p:cNvSpPr>
            <a:spLocks noGrp="1"/>
          </p:cNvSpPr>
          <p:nvPr>
            <p:ph sz="quarter" idx="13"/>
          </p:nvPr>
        </p:nvSpPr>
        <p:spPr/>
        <p:txBody>
          <a:bodyPr>
            <a:normAutofit fontScale="92500" lnSpcReduction="10000"/>
          </a:bodyPr>
          <a:lstStyle/>
          <a:p>
            <a:r>
              <a:rPr lang="en-IN" b="1" dirty="0"/>
              <a:t>EDA:</a:t>
            </a:r>
            <a:r>
              <a:rPr lang="en-IN" dirty="0"/>
              <a:t> Emission trends, correlation analysis (temperature vs emissions).</a:t>
            </a:r>
          </a:p>
          <a:p>
            <a:r>
              <a:rPr lang="en-IN" b="1" dirty="0"/>
              <a:t>Feature Engineering:</a:t>
            </a:r>
            <a:r>
              <a:rPr lang="en-IN" dirty="0"/>
              <a:t> Climate index, risk score.</a:t>
            </a:r>
          </a:p>
          <a:p>
            <a:r>
              <a:rPr lang="en-IN" b="1" dirty="0"/>
              <a:t>Segmentation:</a:t>
            </a:r>
            <a:r>
              <a:rPr lang="en-IN" dirty="0"/>
              <a:t> K-Means clustering for risk zones.</a:t>
            </a:r>
          </a:p>
          <a:p>
            <a:r>
              <a:rPr lang="en-IN" b="1" dirty="0" err="1"/>
              <a:t>Modeling</a:t>
            </a:r>
            <a:r>
              <a:rPr lang="en-IN" b="1" dirty="0"/>
              <a:t> (ML):</a:t>
            </a:r>
            <a:endParaRPr lang="en-IN" dirty="0"/>
          </a:p>
          <a:p>
            <a:pPr lvl="1"/>
            <a:r>
              <a:rPr lang="en-IN" dirty="0"/>
              <a:t>Classification → Predict climate risk level</a:t>
            </a:r>
          </a:p>
          <a:p>
            <a:pPr lvl="1"/>
            <a:r>
              <a:rPr lang="en-IN" dirty="0"/>
              <a:t>Regression → Predict emissions/temperature trends</a:t>
            </a:r>
          </a:p>
          <a:p>
            <a:pPr lvl="1"/>
            <a:r>
              <a:rPr lang="en-IN" dirty="0"/>
              <a:t>Clustering → Identify high-risk zones</a:t>
            </a:r>
          </a:p>
          <a:p>
            <a:r>
              <a:rPr lang="en-IN" b="1" dirty="0"/>
              <a:t>Visualization:</a:t>
            </a:r>
            <a:r>
              <a:rPr lang="en-IN" dirty="0"/>
              <a:t> Power BI/Tableau dashboard with KPIs, maps, charts, and filters.</a:t>
            </a:r>
          </a:p>
          <a:p>
            <a:endParaRPr lang="en-IN" dirty="0"/>
          </a:p>
        </p:txBody>
      </p:sp>
    </p:spTree>
    <p:extLst>
      <p:ext uri="{BB962C8B-B14F-4D97-AF65-F5344CB8AC3E}">
        <p14:creationId xmlns:p14="http://schemas.microsoft.com/office/powerpoint/2010/main" val="2340317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EA794-8C0A-7BE4-D33C-F45441DE17F7}"/>
              </a:ext>
            </a:extLst>
          </p:cNvPr>
          <p:cNvSpPr>
            <a:spLocks noGrp="1"/>
          </p:cNvSpPr>
          <p:nvPr>
            <p:ph type="title"/>
          </p:nvPr>
        </p:nvSpPr>
        <p:spPr/>
        <p:txBody>
          <a:bodyPr/>
          <a:lstStyle/>
          <a:p>
            <a:r>
              <a:rPr lang="en-IN" b="1" dirty="0"/>
              <a:t>Tools &amp; Tech Stack</a:t>
            </a:r>
            <a:br>
              <a:rPr lang="en-IN" b="1" dirty="0"/>
            </a:br>
            <a:endParaRPr lang="en-IN" dirty="0"/>
          </a:p>
        </p:txBody>
      </p:sp>
      <p:sp>
        <p:nvSpPr>
          <p:cNvPr id="3" name="Content Placeholder 2">
            <a:extLst>
              <a:ext uri="{FF2B5EF4-FFF2-40B4-BE49-F238E27FC236}">
                <a16:creationId xmlns:a16="http://schemas.microsoft.com/office/drawing/2014/main" id="{16A33124-E0B2-AD7A-C9A4-A685EA155BA3}"/>
              </a:ext>
            </a:extLst>
          </p:cNvPr>
          <p:cNvSpPr>
            <a:spLocks noGrp="1"/>
          </p:cNvSpPr>
          <p:nvPr>
            <p:ph sz="quarter" idx="13"/>
          </p:nvPr>
        </p:nvSpPr>
        <p:spPr/>
        <p:txBody>
          <a:bodyPr/>
          <a:lstStyle/>
          <a:p>
            <a:r>
              <a:rPr lang="en-IN" b="1" dirty="0"/>
              <a:t>Python:</a:t>
            </a:r>
            <a:r>
              <a:rPr lang="en-IN" dirty="0"/>
              <a:t> Pandas, NumPy, Matplotlib, Seaborn, Scikit-learn</a:t>
            </a:r>
          </a:p>
          <a:p>
            <a:r>
              <a:rPr lang="en-IN" b="1" dirty="0"/>
              <a:t>Visualization:</a:t>
            </a:r>
            <a:r>
              <a:rPr lang="en-IN" dirty="0"/>
              <a:t> Power BI, Tableau</a:t>
            </a:r>
          </a:p>
          <a:p>
            <a:r>
              <a:rPr lang="en-IN" b="1" dirty="0"/>
              <a:t>Storage:</a:t>
            </a:r>
            <a:r>
              <a:rPr lang="en-IN" dirty="0"/>
              <a:t> CSV / Excel</a:t>
            </a:r>
          </a:p>
          <a:p>
            <a:r>
              <a:rPr lang="en-IN" b="1" dirty="0"/>
              <a:t>Documentation:</a:t>
            </a:r>
            <a:r>
              <a:rPr lang="en-IN" dirty="0"/>
              <a:t> </a:t>
            </a:r>
            <a:r>
              <a:rPr lang="en-IN" dirty="0" err="1"/>
              <a:t>Jupyter</a:t>
            </a:r>
            <a:r>
              <a:rPr lang="en-IN" dirty="0"/>
              <a:t> Notebook + Final Report</a:t>
            </a:r>
          </a:p>
          <a:p>
            <a:endParaRPr lang="en-IN" dirty="0"/>
          </a:p>
        </p:txBody>
      </p:sp>
    </p:spTree>
    <p:extLst>
      <p:ext uri="{BB962C8B-B14F-4D97-AF65-F5344CB8AC3E}">
        <p14:creationId xmlns:p14="http://schemas.microsoft.com/office/powerpoint/2010/main" val="3915131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1E20A-666C-51BE-3076-FB9C66E13712}"/>
              </a:ext>
            </a:extLst>
          </p:cNvPr>
          <p:cNvSpPr>
            <a:spLocks noGrp="1"/>
          </p:cNvSpPr>
          <p:nvPr>
            <p:ph type="title"/>
          </p:nvPr>
        </p:nvSpPr>
        <p:spPr/>
        <p:txBody>
          <a:bodyPr/>
          <a:lstStyle/>
          <a:p>
            <a:r>
              <a:rPr lang="en-IN" b="1"/>
              <a:t>Dashboard Layout</a:t>
            </a:r>
            <a:br>
              <a:rPr lang="en-IN" b="1"/>
            </a:br>
            <a:endParaRPr lang="en-IN"/>
          </a:p>
        </p:txBody>
      </p:sp>
      <p:sp>
        <p:nvSpPr>
          <p:cNvPr id="3" name="Content Placeholder 2">
            <a:extLst>
              <a:ext uri="{FF2B5EF4-FFF2-40B4-BE49-F238E27FC236}">
                <a16:creationId xmlns:a16="http://schemas.microsoft.com/office/drawing/2014/main" id="{E24D1084-5751-509B-6EAB-72D0EFAE5432}"/>
              </a:ext>
            </a:extLst>
          </p:cNvPr>
          <p:cNvSpPr>
            <a:spLocks noGrp="1"/>
          </p:cNvSpPr>
          <p:nvPr>
            <p:ph sz="quarter" idx="13"/>
          </p:nvPr>
        </p:nvSpPr>
        <p:spPr/>
        <p:txBody>
          <a:bodyPr/>
          <a:lstStyle/>
          <a:p>
            <a:r>
              <a:rPr lang="en-IN" b="1" dirty="0"/>
              <a:t>Top KPIs:</a:t>
            </a:r>
            <a:r>
              <a:rPr lang="en-IN" dirty="0"/>
              <a:t> CO₂ emissions, temperature change, climate risk score</a:t>
            </a:r>
          </a:p>
          <a:p>
            <a:r>
              <a:rPr lang="en-IN" b="1" dirty="0"/>
              <a:t>Regional Analysis:</a:t>
            </a:r>
            <a:r>
              <a:rPr lang="en-IN" dirty="0"/>
              <a:t> Map (risk levels), bar chart (emissions by region)</a:t>
            </a:r>
          </a:p>
          <a:p>
            <a:r>
              <a:rPr lang="en-IN" b="1" dirty="0"/>
              <a:t>Trend Section:</a:t>
            </a:r>
            <a:r>
              <a:rPr lang="en-IN" dirty="0"/>
              <a:t> Climate trends over time</a:t>
            </a:r>
          </a:p>
          <a:p>
            <a:r>
              <a:rPr lang="en-IN" b="1" dirty="0"/>
              <a:t>Comparison Section:</a:t>
            </a:r>
            <a:r>
              <a:rPr lang="en-IN" dirty="0"/>
              <a:t> Region vs Region</a:t>
            </a:r>
          </a:p>
          <a:p>
            <a:r>
              <a:rPr lang="en-IN" b="1" dirty="0"/>
              <a:t>Filters:</a:t>
            </a:r>
            <a:r>
              <a:rPr lang="en-IN" dirty="0"/>
              <a:t> Region, year, emission type</a:t>
            </a:r>
          </a:p>
          <a:p>
            <a:endParaRPr lang="en-IN" dirty="0"/>
          </a:p>
        </p:txBody>
      </p:sp>
    </p:spTree>
    <p:extLst>
      <p:ext uri="{BB962C8B-B14F-4D97-AF65-F5344CB8AC3E}">
        <p14:creationId xmlns:p14="http://schemas.microsoft.com/office/powerpoint/2010/main" val="1554486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2C2C7-F0F3-1792-911C-DFEE7203D535}"/>
              </a:ext>
            </a:extLst>
          </p:cNvPr>
          <p:cNvSpPr>
            <a:spLocks noGrp="1"/>
          </p:cNvSpPr>
          <p:nvPr>
            <p:ph type="title"/>
          </p:nvPr>
        </p:nvSpPr>
        <p:spPr/>
        <p:txBody>
          <a:bodyPr/>
          <a:lstStyle/>
          <a:p>
            <a:r>
              <a:rPr lang="en-IN" b="1" dirty="0"/>
              <a:t>Deliverables</a:t>
            </a:r>
            <a:br>
              <a:rPr lang="en-IN" b="1" dirty="0"/>
            </a:br>
            <a:endParaRPr lang="en-IN" dirty="0"/>
          </a:p>
        </p:txBody>
      </p:sp>
      <p:sp>
        <p:nvSpPr>
          <p:cNvPr id="3" name="Content Placeholder 2">
            <a:extLst>
              <a:ext uri="{FF2B5EF4-FFF2-40B4-BE49-F238E27FC236}">
                <a16:creationId xmlns:a16="http://schemas.microsoft.com/office/drawing/2014/main" id="{DCB7BD2B-E3F1-3660-E442-4AC4F322A37F}"/>
              </a:ext>
            </a:extLst>
          </p:cNvPr>
          <p:cNvSpPr>
            <a:spLocks noGrp="1"/>
          </p:cNvSpPr>
          <p:nvPr>
            <p:ph sz="quarter" idx="13"/>
          </p:nvPr>
        </p:nvSpPr>
        <p:spPr/>
        <p:txBody>
          <a:bodyPr/>
          <a:lstStyle/>
          <a:p>
            <a:r>
              <a:rPr lang="en-IN" dirty="0"/>
              <a:t>cleaned_climate_data.csv</a:t>
            </a:r>
          </a:p>
          <a:p>
            <a:r>
              <a:rPr lang="en-IN" dirty="0"/>
              <a:t>climate_metrics.csv</a:t>
            </a:r>
          </a:p>
          <a:p>
            <a:r>
              <a:rPr lang="en-IN" dirty="0"/>
              <a:t>Dashboard file (.</a:t>
            </a:r>
            <a:r>
              <a:rPr lang="en-IN" dirty="0" err="1"/>
              <a:t>pbix</a:t>
            </a:r>
            <a:r>
              <a:rPr lang="en-IN" dirty="0"/>
              <a:t> / Tableau workbook)</a:t>
            </a:r>
          </a:p>
          <a:p>
            <a:r>
              <a:rPr lang="en-IN" dirty="0" err="1"/>
              <a:t>Jupyter</a:t>
            </a:r>
            <a:r>
              <a:rPr lang="en-IN" dirty="0"/>
              <a:t> Notebook (EDA + ML + KPIs)</a:t>
            </a:r>
          </a:p>
          <a:p>
            <a:r>
              <a:rPr lang="en-IN" dirty="0"/>
              <a:t>Final Report</a:t>
            </a:r>
          </a:p>
          <a:p>
            <a:endParaRPr lang="en-IN" dirty="0"/>
          </a:p>
        </p:txBody>
      </p:sp>
    </p:spTree>
    <p:extLst>
      <p:ext uri="{BB962C8B-B14F-4D97-AF65-F5344CB8AC3E}">
        <p14:creationId xmlns:p14="http://schemas.microsoft.com/office/powerpoint/2010/main" val="31179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2682F-EBEE-C314-3CCE-5432A97976A3}"/>
              </a:ext>
            </a:extLst>
          </p:cNvPr>
          <p:cNvSpPr>
            <a:spLocks noGrp="1"/>
          </p:cNvSpPr>
          <p:nvPr>
            <p:ph type="title"/>
          </p:nvPr>
        </p:nvSpPr>
        <p:spPr/>
        <p:txBody>
          <a:bodyPr/>
          <a:lstStyle/>
          <a:p>
            <a:r>
              <a:rPr lang="en-US" b="1" dirty="0"/>
              <a:t>Success Metrics</a:t>
            </a:r>
            <a:br>
              <a:rPr lang="en-US" b="1" dirty="0"/>
            </a:br>
            <a:endParaRPr lang="en-IN" dirty="0"/>
          </a:p>
        </p:txBody>
      </p:sp>
      <p:sp>
        <p:nvSpPr>
          <p:cNvPr id="3" name="Content Placeholder 2">
            <a:extLst>
              <a:ext uri="{FF2B5EF4-FFF2-40B4-BE49-F238E27FC236}">
                <a16:creationId xmlns:a16="http://schemas.microsoft.com/office/drawing/2014/main" id="{4E274FCC-6938-BB0B-7C9A-BDB693C5F0CC}"/>
              </a:ext>
            </a:extLst>
          </p:cNvPr>
          <p:cNvSpPr>
            <a:spLocks noGrp="1"/>
          </p:cNvSpPr>
          <p:nvPr>
            <p:ph sz="quarter" idx="13"/>
          </p:nvPr>
        </p:nvSpPr>
        <p:spPr/>
        <p:txBody>
          <a:bodyPr/>
          <a:lstStyle/>
          <a:p>
            <a:r>
              <a:rPr lang="en-US" dirty="0"/>
              <a:t>Accurate climate risk prediction</a:t>
            </a:r>
          </a:p>
          <a:p>
            <a:r>
              <a:rPr lang="en-US" dirty="0"/>
              <a:t>Effective ML model performance</a:t>
            </a:r>
          </a:p>
          <a:p>
            <a:r>
              <a:rPr lang="en-US" dirty="0"/>
              <a:t>Clear visualization of insights</a:t>
            </a:r>
          </a:p>
          <a:p>
            <a:r>
              <a:rPr lang="en-US" dirty="0"/>
              <a:t>Actionable recommendations for stakeholders</a:t>
            </a:r>
          </a:p>
          <a:p>
            <a:endParaRPr lang="en-IN" dirty="0"/>
          </a:p>
        </p:txBody>
      </p:sp>
    </p:spTree>
    <p:extLst>
      <p:ext uri="{BB962C8B-B14F-4D97-AF65-F5344CB8AC3E}">
        <p14:creationId xmlns:p14="http://schemas.microsoft.com/office/powerpoint/2010/main" val="1374715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4BB4B-39EF-E87D-78CB-B6662F1C1F48}"/>
              </a:ext>
            </a:extLst>
          </p:cNvPr>
          <p:cNvSpPr>
            <a:spLocks noGrp="1"/>
          </p:cNvSpPr>
          <p:nvPr>
            <p:ph type="title"/>
          </p:nvPr>
        </p:nvSpPr>
        <p:spPr/>
        <p:txBody>
          <a:bodyPr/>
          <a:lstStyle/>
          <a:p>
            <a:r>
              <a:rPr lang="en-US" b="1" dirty="0"/>
              <a:t>Risks &amp; Assumptions</a:t>
            </a:r>
            <a:br>
              <a:rPr lang="en-US" b="1" dirty="0"/>
            </a:br>
            <a:endParaRPr lang="en-IN" dirty="0"/>
          </a:p>
        </p:txBody>
      </p:sp>
      <p:sp>
        <p:nvSpPr>
          <p:cNvPr id="3" name="Content Placeholder 2">
            <a:extLst>
              <a:ext uri="{FF2B5EF4-FFF2-40B4-BE49-F238E27FC236}">
                <a16:creationId xmlns:a16="http://schemas.microsoft.com/office/drawing/2014/main" id="{D64E83EE-9546-717B-129E-AA5E355EC9F0}"/>
              </a:ext>
            </a:extLst>
          </p:cNvPr>
          <p:cNvSpPr>
            <a:spLocks noGrp="1"/>
          </p:cNvSpPr>
          <p:nvPr>
            <p:ph sz="quarter" idx="13"/>
          </p:nvPr>
        </p:nvSpPr>
        <p:spPr/>
        <p:txBody>
          <a:bodyPr/>
          <a:lstStyle/>
          <a:p>
            <a:r>
              <a:rPr lang="en-US" dirty="0"/>
              <a:t>Missing or incomplete environmental data</a:t>
            </a:r>
          </a:p>
          <a:p>
            <a:r>
              <a:rPr lang="en-US" dirty="0"/>
              <a:t>Inconsistent measurement standards across regions</a:t>
            </a:r>
          </a:p>
          <a:p>
            <a:r>
              <a:rPr lang="en-US" dirty="0"/>
              <a:t>Limited historical records</a:t>
            </a:r>
          </a:p>
          <a:p>
            <a:endParaRPr lang="en-IN" dirty="0"/>
          </a:p>
        </p:txBody>
      </p:sp>
    </p:spTree>
    <p:extLst>
      <p:ext uri="{BB962C8B-B14F-4D97-AF65-F5344CB8AC3E}">
        <p14:creationId xmlns:p14="http://schemas.microsoft.com/office/powerpoint/2010/main" val="659075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01B96-9799-91D5-A84F-F4A68189790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C319EA5-C701-3F1D-08C3-CCE588AC2048}"/>
              </a:ext>
            </a:extLst>
          </p:cNvPr>
          <p:cNvSpPr>
            <a:spLocks noGrp="1"/>
          </p:cNvSpPr>
          <p:nvPr>
            <p:ph sz="quarter" idx="13"/>
          </p:nvPr>
        </p:nvSpPr>
        <p:spPr/>
        <p:txBody>
          <a:bodyPr/>
          <a:lstStyle/>
          <a:p>
            <a:endParaRPr lang="en-IN" dirty="0"/>
          </a:p>
        </p:txBody>
      </p:sp>
    </p:spTree>
    <p:extLst>
      <p:ext uri="{BB962C8B-B14F-4D97-AF65-F5344CB8AC3E}">
        <p14:creationId xmlns:p14="http://schemas.microsoft.com/office/powerpoint/2010/main" val="3921750951"/>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{1B939AD4-B303-4969-84F6-E43FA37B8FCC}TF62d0d592-7ac2-4846-a919-75806e8bead49553d537-f813ce055067</Template>
  <TotalTime>28</TotalTime>
  <Words>585</Words>
  <Application>Microsoft Office PowerPoint</Application>
  <PresentationFormat>Widescreen</PresentationFormat>
  <Paragraphs>82</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Tw Cen MT</vt:lpstr>
      <vt:lpstr>Droplet</vt:lpstr>
      <vt:lpstr>Climate Change &amp; Emissions Analytics Dashboard (SDG Goal 13: Climate Action) </vt:lpstr>
      <vt:lpstr>Abstract </vt:lpstr>
      <vt:lpstr>Introduction </vt:lpstr>
      <vt:lpstr>Problem Statement </vt:lpstr>
      <vt:lpstr>Objectives </vt:lpstr>
      <vt:lpstr>Scope </vt:lpstr>
      <vt:lpstr>Stakeholders </vt:lpstr>
      <vt:lpstr>Data Requirements </vt:lpstr>
      <vt:lpstr>Key Metrics (KPIs) </vt:lpstr>
      <vt:lpstr>Analytical Approach </vt:lpstr>
      <vt:lpstr>Tools &amp; Tech Stack </vt:lpstr>
      <vt:lpstr>Dashboard Layout </vt:lpstr>
      <vt:lpstr>Deliverables </vt:lpstr>
      <vt:lpstr>Success Metrics </vt:lpstr>
      <vt:lpstr>Risks &amp; Assumptions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Premkumar V</dc:creator>
  <cp:lastModifiedBy>Premkumar V</cp:lastModifiedBy>
  <cp:revision>1</cp:revision>
  <dcterms:created xsi:type="dcterms:W3CDTF">2026-04-28T11:00:12Z</dcterms:created>
  <dcterms:modified xsi:type="dcterms:W3CDTF">2026-04-28T11:28:33Z</dcterms:modified>
</cp:coreProperties>
</file>